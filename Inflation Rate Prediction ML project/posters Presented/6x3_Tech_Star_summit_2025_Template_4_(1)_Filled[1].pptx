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6459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F5CC"/>
    <a:srgbClr val="FBDCBF"/>
    <a:srgbClr val="FFCFE7"/>
    <a:srgbClr val="BFE7FF"/>
    <a:srgbClr val="D7F5CD"/>
    <a:srgbClr val="FCDCBF"/>
    <a:srgbClr val="FED67F"/>
    <a:srgbClr val="5F5F5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142" y="-6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3"/>
            </a:lvl1pPr>
            <a:lvl2pPr marL="823285" indent="0" algn="ctr">
              <a:buNone/>
              <a:defRPr sz="3602"/>
            </a:lvl2pPr>
            <a:lvl3pPr marL="1646571" indent="0" algn="ctr">
              <a:buNone/>
              <a:defRPr sz="3241"/>
            </a:lvl3pPr>
            <a:lvl4pPr marL="2469856" indent="0" algn="ctr">
              <a:buNone/>
              <a:defRPr sz="2880"/>
            </a:lvl4pPr>
            <a:lvl5pPr marL="3293142" indent="0" algn="ctr">
              <a:buNone/>
              <a:defRPr sz="2880"/>
            </a:lvl5pPr>
            <a:lvl6pPr marL="4116427" indent="0" algn="ctr">
              <a:buNone/>
              <a:defRPr sz="2880"/>
            </a:lvl6pPr>
            <a:lvl7pPr marL="4939713" indent="0" algn="ctr">
              <a:buNone/>
              <a:defRPr sz="2880"/>
            </a:lvl7pPr>
            <a:lvl8pPr marL="5762993" indent="0" algn="ctr">
              <a:buNone/>
              <a:defRPr sz="2880"/>
            </a:lvl8pPr>
            <a:lvl9pPr marL="6586284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9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3">
                <a:solidFill>
                  <a:schemeClr val="tx1"/>
                </a:solidFill>
              </a:defRPr>
            </a:lvl1pPr>
            <a:lvl2pPr marL="823285" indent="0">
              <a:buNone/>
              <a:defRPr sz="3602">
                <a:solidFill>
                  <a:schemeClr val="tx1">
                    <a:tint val="75000"/>
                  </a:schemeClr>
                </a:solidFill>
              </a:defRPr>
            </a:lvl2pPr>
            <a:lvl3pPr marL="1646571" indent="0">
              <a:buNone/>
              <a:defRPr sz="3241">
                <a:solidFill>
                  <a:schemeClr val="tx1">
                    <a:tint val="75000"/>
                  </a:schemeClr>
                </a:solidFill>
              </a:defRPr>
            </a:lvl3pPr>
            <a:lvl4pPr marL="2469856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3142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6427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971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299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6284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9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0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7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7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1"/>
            </a:lvl1pPr>
            <a:lvl2pPr>
              <a:defRPr sz="5039"/>
            </a:lvl2pPr>
            <a:lvl3pPr>
              <a:defRPr sz="4323"/>
            </a:lvl3pPr>
            <a:lvl4pPr>
              <a:defRPr sz="3602"/>
            </a:lvl4pPr>
            <a:lvl5pPr>
              <a:defRPr sz="3602"/>
            </a:lvl5pPr>
            <a:lvl6pPr>
              <a:defRPr sz="3602"/>
            </a:lvl6pPr>
            <a:lvl7pPr>
              <a:defRPr sz="3602"/>
            </a:lvl7pPr>
            <a:lvl8pPr>
              <a:defRPr sz="3602"/>
            </a:lvl8pPr>
            <a:lvl9pPr>
              <a:defRPr sz="3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8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1"/>
            </a:lvl1pPr>
            <a:lvl2pPr marL="823285" indent="0">
              <a:buNone/>
              <a:defRPr sz="5039"/>
            </a:lvl2pPr>
            <a:lvl3pPr marL="1646571" indent="0">
              <a:buNone/>
              <a:defRPr sz="4323"/>
            </a:lvl3pPr>
            <a:lvl4pPr marL="2469856" indent="0">
              <a:buNone/>
              <a:defRPr sz="3602"/>
            </a:lvl4pPr>
            <a:lvl5pPr marL="3293142" indent="0">
              <a:buNone/>
              <a:defRPr sz="3602"/>
            </a:lvl5pPr>
            <a:lvl6pPr marL="4116427" indent="0">
              <a:buNone/>
              <a:defRPr sz="3602"/>
            </a:lvl6pPr>
            <a:lvl7pPr marL="4939713" indent="0">
              <a:buNone/>
              <a:defRPr sz="3602"/>
            </a:lvl7pPr>
            <a:lvl8pPr marL="5762993" indent="0">
              <a:buNone/>
              <a:defRPr sz="3602"/>
            </a:lvl8pPr>
            <a:lvl9pPr marL="6586284" indent="0">
              <a:buNone/>
              <a:defRPr sz="36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9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6571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645" indent="-411645" algn="l" defTabSz="1646571" rtl="0" eaLnBrk="1" latinLnBrk="0" hangingPunct="1">
        <a:lnSpc>
          <a:spcPct val="90000"/>
        </a:lnSpc>
        <a:spcBef>
          <a:spcPts val="1798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1pPr>
      <a:lvl2pPr marL="1234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marL="205821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602" kern="1200">
          <a:solidFill>
            <a:schemeClr val="tx1"/>
          </a:solidFill>
          <a:latin typeface="+mn-lt"/>
          <a:ea typeface="+mn-ea"/>
          <a:cs typeface="+mn-cs"/>
        </a:defRPr>
      </a:lvl3pPr>
      <a:lvl4pPr marL="288150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70478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52807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535135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617463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997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823285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2pPr>
      <a:lvl3pPr marL="1646571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3pPr>
      <a:lvl4pPr marL="2469856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293142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116427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493971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576299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586284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0" y="12244206"/>
            <a:ext cx="8257345" cy="2919040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0" y="9310486"/>
            <a:ext cx="8253177" cy="2949858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1798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3" y="3495088"/>
            <a:ext cx="8257345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19" name="Rectangle 18"/>
          <p:cNvSpPr/>
          <p:nvPr/>
        </p:nvSpPr>
        <p:spPr>
          <a:xfrm>
            <a:off x="208209" y="3594344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-1" y="2719578"/>
            <a:ext cx="8253178" cy="802627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22" name="Rectangle 21"/>
          <p:cNvSpPr/>
          <p:nvPr/>
        </p:nvSpPr>
        <p:spPr>
          <a:xfrm>
            <a:off x="247487" y="9409760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1986" y="12336935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39110" y="2708164"/>
            <a:ext cx="8257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Prediction of Accuracy in Inflation Rate Using Extreme Gradient Boosting Algorithm in Comparison with Decision Tree Algorithm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F757CC-C832-3EB9-8642-C2DADE82A7D6}"/>
              </a:ext>
            </a:extLst>
          </p:cNvPr>
          <p:cNvSpPr/>
          <p:nvPr/>
        </p:nvSpPr>
        <p:spPr>
          <a:xfrm>
            <a:off x="-1" y="1"/>
            <a:ext cx="16459202" cy="269206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70C69D-E356-94D3-988E-D3E99B4033C3}"/>
              </a:ext>
            </a:extLst>
          </p:cNvPr>
          <p:cNvSpPr txBox="1"/>
          <p:nvPr/>
        </p:nvSpPr>
        <p:spPr>
          <a:xfrm>
            <a:off x="9643463" y="1470940"/>
            <a:ext cx="6420886" cy="1292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99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Name: 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Jonnalagadda Sai Chandu</a:t>
            </a:r>
          </a:p>
          <a:p>
            <a:pPr algn="r"/>
            <a:r>
              <a:rPr lang="en-US" sz="2499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No: </a:t>
            </a:r>
            <a:r>
              <a:rPr lang="en-US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192211216</a:t>
            </a:r>
            <a:r>
              <a:rPr lang="en-US" sz="2499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sz="2499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  <a:r>
              <a:rPr lang="en-IN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Balasubramani</a:t>
            </a:r>
            <a:endParaRPr lang="en-IN" sz="2499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-4" y="6397991"/>
            <a:ext cx="8257345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14204" y="14778836"/>
            <a:ext cx="8257345" cy="2919040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20212" y="18711686"/>
            <a:ext cx="8257345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14207" y="17936177"/>
            <a:ext cx="8238970" cy="7755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497292" y="17909670"/>
            <a:ext cx="7761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Accuracy in Inflation Rate Using Extreme Gradient Boosting Algorithm in Comparison with Random Forest Algorithm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20212" y="21614589"/>
            <a:ext cx="8257345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20212" y="24557902"/>
            <a:ext cx="8257345" cy="2919040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20212" y="27446123"/>
            <a:ext cx="8257345" cy="2919040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20212" y="29995434"/>
            <a:ext cx="8257345" cy="2919040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20" name="Rectangle 19"/>
          <p:cNvSpPr/>
          <p:nvPr/>
        </p:nvSpPr>
        <p:spPr>
          <a:xfrm>
            <a:off x="184731" y="6499184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3449" y="14854638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8209" y="18807370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24659" y="24654199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84731" y="27561181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03856" y="21713096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84731" y="30139091"/>
            <a:ext cx="3022889" cy="4744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41041" y="12224518"/>
            <a:ext cx="8038263" cy="2919040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45207" y="9321615"/>
            <a:ext cx="8038263" cy="2919040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49374" y="3506218"/>
            <a:ext cx="8038263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49373" y="6409121"/>
            <a:ext cx="8038263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36875" y="14788219"/>
            <a:ext cx="8038263" cy="2919040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55156" y="18694037"/>
            <a:ext cx="8038263" cy="291904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69589" y="21625719"/>
            <a:ext cx="8038263" cy="2919040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69589" y="24569032"/>
            <a:ext cx="8038263" cy="2919040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69589" y="27457253"/>
            <a:ext cx="8038263" cy="2919040"/>
          </a:xfrm>
          <a:prstGeom prst="rect">
            <a:avLst/>
          </a:prstGeom>
          <a:solidFill>
            <a:srgbClr val="FBDCBF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5F827C5-EB36-36D8-57E4-E142A1A8C67D}"/>
              </a:ext>
            </a:extLst>
          </p:cNvPr>
          <p:cNvSpPr/>
          <p:nvPr/>
        </p:nvSpPr>
        <p:spPr>
          <a:xfrm>
            <a:off x="8469589" y="30006564"/>
            <a:ext cx="8038263" cy="2919040"/>
          </a:xfrm>
          <a:prstGeom prst="rect">
            <a:avLst/>
          </a:prstGeom>
          <a:solidFill>
            <a:srgbClr val="D6F5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8445208" y="2691614"/>
            <a:ext cx="8048211" cy="802627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8233158" y="2777415"/>
            <a:ext cx="84605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Accuracy Prediction in Inflation Rate Using Extreme Gradient Boosting Algorithm in Comparison with Gradient Boosting Algorithm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A700850-254E-CEFB-BC41-4AE4951B636A}"/>
              </a:ext>
            </a:extLst>
          </p:cNvPr>
          <p:cNvSpPr/>
          <p:nvPr/>
        </p:nvSpPr>
        <p:spPr>
          <a:xfrm>
            <a:off x="8445207" y="17936177"/>
            <a:ext cx="8038263" cy="7755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7EBDFB-488C-7F01-6765-9DA15C34FC9B}"/>
              </a:ext>
            </a:extLst>
          </p:cNvPr>
          <p:cNvSpPr txBox="1"/>
          <p:nvPr/>
        </p:nvSpPr>
        <p:spPr>
          <a:xfrm>
            <a:off x="8399998" y="17995643"/>
            <a:ext cx="8181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Accuracy Prediction in Inflation Rate Using Extreme Gradient Boosting Algorithm in Comparison with K-Nearest Neighbors Algorithm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35842" y="18807370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8635842" y="24664905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538755" y="27623766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15330128" y="36860609"/>
            <a:ext cx="4630672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3043" indent="-343043">
              <a:buFont typeface="Wingdings" panose="05000000000000000000" pitchFamily="2" charset="2"/>
              <a:buChar char="Ø"/>
            </a:pPr>
            <a:r>
              <a:rPr lang="en-US" sz="20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here</a:t>
            </a:r>
            <a:endParaRPr lang="en-IN" sz="2001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635842" y="21730441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8635842" y="30127961"/>
            <a:ext cx="3022889" cy="47440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8635842" y="3598982"/>
            <a:ext cx="3261014" cy="5539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635841" y="9409760"/>
            <a:ext cx="1879890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560968" y="12306117"/>
            <a:ext cx="59089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362008D-D9AE-CC4A-00C7-D2C269A08BF0}"/>
              </a:ext>
            </a:extLst>
          </p:cNvPr>
          <p:cNvSpPr txBox="1"/>
          <p:nvPr/>
        </p:nvSpPr>
        <p:spPr>
          <a:xfrm>
            <a:off x="11939444" y="6787573"/>
            <a:ext cx="5373967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3043" indent="-343043">
              <a:buFont typeface="Wingdings" panose="05000000000000000000" pitchFamily="2" charset="2"/>
              <a:buChar char="Ø"/>
            </a:pPr>
            <a:r>
              <a:rPr lang="en-US" sz="20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here</a:t>
            </a:r>
            <a:endParaRPr lang="en-IN" sz="2001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8635842" y="6515885"/>
            <a:ext cx="5185062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8560968" y="14866558"/>
            <a:ext cx="3022889" cy="554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9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IN" sz="279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48A2B2F8-3ADB-EAEF-B1C5-A29F8118F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5CD2FA34-A5B9-DB6E-BC31-3624DA3BA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F276320D-A0A6-796A-0530-3611587E9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15">
            <a:extLst>
              <a:ext uri="{FF2B5EF4-FFF2-40B4-BE49-F238E27FC236}">
                <a16:creationId xmlns:a16="http://schemas.microsoft.com/office/drawing/2014/main" id="{66676541-9A29-C10A-BFD1-32AA30489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16">
            <a:extLst>
              <a:ext uri="{FF2B5EF4-FFF2-40B4-BE49-F238E27FC236}">
                <a16:creationId xmlns:a16="http://schemas.microsoft.com/office/drawing/2014/main" id="{6FB2A44D-8BC1-3699-1692-6ABF11579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17">
            <a:extLst>
              <a:ext uri="{FF2B5EF4-FFF2-40B4-BE49-F238E27FC236}">
                <a16:creationId xmlns:a16="http://schemas.microsoft.com/office/drawing/2014/main" id="{889E609C-EFC2-F5A5-817A-E0468DE73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18">
            <a:extLst>
              <a:ext uri="{FF2B5EF4-FFF2-40B4-BE49-F238E27FC236}">
                <a16:creationId xmlns:a16="http://schemas.microsoft.com/office/drawing/2014/main" id="{39C046D7-C05F-1CE6-6608-106292101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19">
            <a:extLst>
              <a:ext uri="{FF2B5EF4-FFF2-40B4-BE49-F238E27FC236}">
                <a16:creationId xmlns:a16="http://schemas.microsoft.com/office/drawing/2014/main" id="{88C58EF7-B32C-C3EB-8326-1B6094AAD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B58947-BAB7-177B-E444-C0F68F79C332}"/>
              </a:ext>
            </a:extLst>
          </p:cNvPr>
          <p:cNvSpPr txBox="1"/>
          <p:nvPr/>
        </p:nvSpPr>
        <p:spPr>
          <a:xfrm>
            <a:off x="16064349" y="1767840"/>
            <a:ext cx="577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09082"/>
            <a:ext cx="15952717" cy="2290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195F1D-4440-88C2-9DDC-BFADE4209251}"/>
              </a:ext>
            </a:extLst>
          </p:cNvPr>
          <p:cNvSpPr txBox="1"/>
          <p:nvPr/>
        </p:nvSpPr>
        <p:spPr>
          <a:xfrm>
            <a:off x="184731" y="4158176"/>
            <a:ext cx="57843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aims to enhance the Accuracy of Inflation Rate Prediction Using Extreme Gradient Boosting Algorithm in comparison with Decision Tree Algorithm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economic and financial sectors, one of the key challenges is the lack of precise and reliable forecasts for inflation rates, which are critical for policy formulation, investment decisions.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935B6-5262-6216-2630-9795F6B042BB}"/>
              </a:ext>
            </a:extLst>
          </p:cNvPr>
          <p:cNvSpPr txBox="1"/>
          <p:nvPr/>
        </p:nvSpPr>
        <p:spPr>
          <a:xfrm>
            <a:off x="8605362" y="4148639"/>
            <a:ext cx="55725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focuses on improving the precision of inflation rate forecasting by evaluating and comparing the performance of two advanced machine learning techniques: Extreme Gradient Boosting (XG-Boost) and the Gradient Boosting Algorithm (GB).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forecasting methods often struggle with nonlinear patterns and high-dimensional data.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CE087C-DD80-71EC-F87E-261F8BA5649A}"/>
              </a:ext>
            </a:extLst>
          </p:cNvPr>
          <p:cNvSpPr txBox="1"/>
          <p:nvPr/>
        </p:nvSpPr>
        <p:spPr>
          <a:xfrm>
            <a:off x="184731" y="19362177"/>
            <a:ext cx="61039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investigates the potential of machine learning models to enhance the accuracy of inflation rate forecasting, specifically comparing the performance of the Extreme Gradient Boosting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algorithm with the Random Forest (RF) algorithm.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an ensemble learning technique that constructs multiple decision trees and aggregates their predictions, making it robust to overfitting and effective 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DB9BB2-412C-47F1-55A8-E9FDFBBA5079}"/>
              </a:ext>
            </a:extLst>
          </p:cNvPr>
          <p:cNvSpPr txBox="1"/>
          <p:nvPr/>
        </p:nvSpPr>
        <p:spPr>
          <a:xfrm>
            <a:off x="8605363" y="19338679"/>
            <a:ext cx="56030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explores the use of machine learning techniques to improve the accuracy of inflation rate prediction, focusing on a comparative analysis between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and the K-Nearest Neighbors (KNN) algorithm.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Gradient Boosting, in contrast, builds models iteratively, where each new tree corrects the errors of the previous ones.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F29FBF7-7DBA-FA87-6AB3-6265FD881E20}"/>
              </a:ext>
            </a:extLst>
          </p:cNvPr>
          <p:cNvSpPr/>
          <p:nvPr/>
        </p:nvSpPr>
        <p:spPr>
          <a:xfrm>
            <a:off x="1979111" y="7250960"/>
            <a:ext cx="1478280" cy="988613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n-IN" sz="219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52150A6-F624-7C3E-4867-4E80010D3D04}"/>
              </a:ext>
            </a:extLst>
          </p:cNvPr>
          <p:cNvSpPr/>
          <p:nvPr/>
        </p:nvSpPr>
        <p:spPr>
          <a:xfrm>
            <a:off x="3984846" y="7114549"/>
            <a:ext cx="1759842" cy="1326478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Splitting data into training and testing data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559E3CF-B44E-75EE-9684-D863D65ADB98}"/>
              </a:ext>
            </a:extLst>
          </p:cNvPr>
          <p:cNvSpPr/>
          <p:nvPr/>
        </p:nvSpPr>
        <p:spPr>
          <a:xfrm>
            <a:off x="6262673" y="6964196"/>
            <a:ext cx="1759842" cy="1325977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training (XG-Boost and DT) 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762F54E-36E8-7E76-4887-F167E7F11CC2}"/>
              </a:ext>
            </a:extLst>
          </p:cNvPr>
          <p:cNvSpPr/>
          <p:nvPr/>
        </p:nvSpPr>
        <p:spPr>
          <a:xfrm>
            <a:off x="6166543" y="8666403"/>
            <a:ext cx="1952103" cy="612235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validation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77261E9-7510-419D-F11F-01AEB4E5891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>
            <a:off x="3457391" y="7745267"/>
            <a:ext cx="527455" cy="325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F9FD9AE-75A0-42EA-5AC1-8E545D631E04}"/>
              </a:ext>
            </a:extLst>
          </p:cNvPr>
          <p:cNvSpPr/>
          <p:nvPr/>
        </p:nvSpPr>
        <p:spPr>
          <a:xfrm>
            <a:off x="381000" y="8515725"/>
            <a:ext cx="5363688" cy="760917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of XG-Boost with DT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607B943-8EC3-47D3-6412-C89F93524DDC}"/>
              </a:ext>
            </a:extLst>
          </p:cNvPr>
          <p:cNvCxnSpPr>
            <a:cxnSpLocks/>
            <a:stCxn id="101" idx="1"/>
          </p:cNvCxnSpPr>
          <p:nvPr/>
        </p:nvCxnSpPr>
        <p:spPr>
          <a:xfrm flipH="1" flipV="1">
            <a:off x="5744688" y="8953852"/>
            <a:ext cx="421855" cy="186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31F1F2D7-4474-E934-7916-F3595D3FC4D7}"/>
              </a:ext>
            </a:extLst>
          </p:cNvPr>
          <p:cNvSpPr/>
          <p:nvPr/>
        </p:nvSpPr>
        <p:spPr>
          <a:xfrm>
            <a:off x="458125" y="7134956"/>
            <a:ext cx="1142075" cy="121679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219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4C587009-ECB0-DE32-A796-42CE40D4B066}"/>
              </a:ext>
            </a:extLst>
          </p:cNvPr>
          <p:cNvCxnSpPr>
            <a:cxnSpLocks/>
          </p:cNvCxnSpPr>
          <p:nvPr/>
        </p:nvCxnSpPr>
        <p:spPr>
          <a:xfrm>
            <a:off x="1600200" y="7833935"/>
            <a:ext cx="378911" cy="347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86426DF5-0313-6CB3-3070-3D28F5F5C7F5}"/>
              </a:ext>
            </a:extLst>
          </p:cNvPr>
          <p:cNvCxnSpPr>
            <a:cxnSpLocks/>
          </p:cNvCxnSpPr>
          <p:nvPr/>
        </p:nvCxnSpPr>
        <p:spPr>
          <a:xfrm>
            <a:off x="5741654" y="7803381"/>
            <a:ext cx="547067" cy="81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04BFA4FC-8C6D-7911-BE75-341F6F80A248}"/>
              </a:ext>
            </a:extLst>
          </p:cNvPr>
          <p:cNvCxnSpPr>
            <a:cxnSpLocks/>
            <a:endCxn id="101" idx="0"/>
          </p:cNvCxnSpPr>
          <p:nvPr/>
        </p:nvCxnSpPr>
        <p:spPr>
          <a:xfrm>
            <a:off x="7142594" y="8306058"/>
            <a:ext cx="1" cy="3603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CBF343C7-1A39-02B9-6F6B-CE1E9CA6A422}"/>
              </a:ext>
            </a:extLst>
          </p:cNvPr>
          <p:cNvSpPr/>
          <p:nvPr/>
        </p:nvSpPr>
        <p:spPr>
          <a:xfrm>
            <a:off x="10162991" y="7250960"/>
            <a:ext cx="1478280" cy="988613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n-IN" sz="219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12D19A8C-2718-2785-C4D2-2BA75E3A9E02}"/>
              </a:ext>
            </a:extLst>
          </p:cNvPr>
          <p:cNvSpPr/>
          <p:nvPr/>
        </p:nvSpPr>
        <p:spPr>
          <a:xfrm>
            <a:off x="12168726" y="7114549"/>
            <a:ext cx="1759842" cy="1326478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Splitting data into training and testing data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F89D7604-54D0-1ED1-4EE4-8949D768BA10}"/>
              </a:ext>
            </a:extLst>
          </p:cNvPr>
          <p:cNvSpPr/>
          <p:nvPr/>
        </p:nvSpPr>
        <p:spPr>
          <a:xfrm>
            <a:off x="14446553" y="6964196"/>
            <a:ext cx="1759842" cy="1325977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training (XG-Boost and DT) 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F4356DDB-C78C-00EC-CA00-CDFF85F07B97}"/>
              </a:ext>
            </a:extLst>
          </p:cNvPr>
          <p:cNvSpPr/>
          <p:nvPr/>
        </p:nvSpPr>
        <p:spPr>
          <a:xfrm>
            <a:off x="14350423" y="8666403"/>
            <a:ext cx="1952103" cy="612235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validation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766C6F40-523A-620E-EE59-77F6DC9AD308}"/>
              </a:ext>
            </a:extLst>
          </p:cNvPr>
          <p:cNvCxnSpPr>
            <a:cxnSpLocks/>
            <a:stCxn id="1069" idx="3"/>
            <a:endCxn id="1070" idx="1"/>
          </p:cNvCxnSpPr>
          <p:nvPr/>
        </p:nvCxnSpPr>
        <p:spPr>
          <a:xfrm>
            <a:off x="11641271" y="7745267"/>
            <a:ext cx="527455" cy="325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DBE27C40-E13B-056A-83CB-C6A55F56AD3C}"/>
              </a:ext>
            </a:extLst>
          </p:cNvPr>
          <p:cNvSpPr/>
          <p:nvPr/>
        </p:nvSpPr>
        <p:spPr>
          <a:xfrm>
            <a:off x="8564880" y="8515725"/>
            <a:ext cx="5363688" cy="760917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of XG-Boost with GB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C8590DE4-6B1C-BDCB-6408-519C1906CE87}"/>
              </a:ext>
            </a:extLst>
          </p:cNvPr>
          <p:cNvCxnSpPr>
            <a:cxnSpLocks/>
            <a:stCxn id="1072" idx="1"/>
          </p:cNvCxnSpPr>
          <p:nvPr/>
        </p:nvCxnSpPr>
        <p:spPr>
          <a:xfrm flipH="1" flipV="1">
            <a:off x="13928568" y="8953852"/>
            <a:ext cx="421855" cy="186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6" name="Oval 1075">
            <a:extLst>
              <a:ext uri="{FF2B5EF4-FFF2-40B4-BE49-F238E27FC236}">
                <a16:creationId xmlns:a16="http://schemas.microsoft.com/office/drawing/2014/main" id="{158887CC-CCBC-D00F-07E0-249263B807DE}"/>
              </a:ext>
            </a:extLst>
          </p:cNvPr>
          <p:cNvSpPr/>
          <p:nvPr/>
        </p:nvSpPr>
        <p:spPr>
          <a:xfrm>
            <a:off x="8642005" y="7134956"/>
            <a:ext cx="1142075" cy="121679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219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77" name="Straight Arrow Connector 1076">
            <a:extLst>
              <a:ext uri="{FF2B5EF4-FFF2-40B4-BE49-F238E27FC236}">
                <a16:creationId xmlns:a16="http://schemas.microsoft.com/office/drawing/2014/main" id="{D9F388C1-3824-8D6B-D998-829D6FC605A9}"/>
              </a:ext>
            </a:extLst>
          </p:cNvPr>
          <p:cNvCxnSpPr>
            <a:cxnSpLocks/>
          </p:cNvCxnSpPr>
          <p:nvPr/>
        </p:nvCxnSpPr>
        <p:spPr>
          <a:xfrm>
            <a:off x="9784080" y="7833935"/>
            <a:ext cx="378911" cy="347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8" name="Straight Arrow Connector 1077">
            <a:extLst>
              <a:ext uri="{FF2B5EF4-FFF2-40B4-BE49-F238E27FC236}">
                <a16:creationId xmlns:a16="http://schemas.microsoft.com/office/drawing/2014/main" id="{78AFAFEA-B938-40F3-EDC6-2D37C371B2AD}"/>
              </a:ext>
            </a:extLst>
          </p:cNvPr>
          <p:cNvCxnSpPr>
            <a:cxnSpLocks/>
          </p:cNvCxnSpPr>
          <p:nvPr/>
        </p:nvCxnSpPr>
        <p:spPr>
          <a:xfrm>
            <a:off x="13925534" y="7803381"/>
            <a:ext cx="547067" cy="81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9" name="Straight Arrow Connector 1078">
            <a:extLst>
              <a:ext uri="{FF2B5EF4-FFF2-40B4-BE49-F238E27FC236}">
                <a16:creationId xmlns:a16="http://schemas.microsoft.com/office/drawing/2014/main" id="{474A8CE5-78AD-C09C-2E20-CA85AA5332E5}"/>
              </a:ext>
            </a:extLst>
          </p:cNvPr>
          <p:cNvCxnSpPr>
            <a:cxnSpLocks/>
            <a:endCxn id="1072" idx="0"/>
          </p:cNvCxnSpPr>
          <p:nvPr/>
        </p:nvCxnSpPr>
        <p:spPr>
          <a:xfrm>
            <a:off x="15326474" y="8306058"/>
            <a:ext cx="1" cy="3603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D352F87D-2BF5-D4FB-43B3-20CBDBFF574F}"/>
              </a:ext>
            </a:extLst>
          </p:cNvPr>
          <p:cNvSpPr/>
          <p:nvPr/>
        </p:nvSpPr>
        <p:spPr>
          <a:xfrm>
            <a:off x="1796231" y="22445240"/>
            <a:ext cx="1478280" cy="9886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n-IN" sz="219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6BD755BB-9E43-EAEC-1EED-555F10D6DE8C}"/>
              </a:ext>
            </a:extLst>
          </p:cNvPr>
          <p:cNvSpPr/>
          <p:nvPr/>
        </p:nvSpPr>
        <p:spPr>
          <a:xfrm>
            <a:off x="3801966" y="22308829"/>
            <a:ext cx="1759842" cy="13264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Splitting data into training and testing data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47B7BC9E-F546-AFF3-74E2-E5BEF032603B}"/>
              </a:ext>
            </a:extLst>
          </p:cNvPr>
          <p:cNvSpPr/>
          <p:nvPr/>
        </p:nvSpPr>
        <p:spPr>
          <a:xfrm>
            <a:off x="6079793" y="22158476"/>
            <a:ext cx="1759842" cy="1325977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training (XG-Boost and DT) 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81ADCF3F-ED5C-7078-192A-191098AA2327}"/>
              </a:ext>
            </a:extLst>
          </p:cNvPr>
          <p:cNvSpPr/>
          <p:nvPr/>
        </p:nvSpPr>
        <p:spPr>
          <a:xfrm>
            <a:off x="5983663" y="23860683"/>
            <a:ext cx="1952103" cy="612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validation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4" name="Straight Arrow Connector 1083">
            <a:extLst>
              <a:ext uri="{FF2B5EF4-FFF2-40B4-BE49-F238E27FC236}">
                <a16:creationId xmlns:a16="http://schemas.microsoft.com/office/drawing/2014/main" id="{B2B78CD4-2F3C-A643-D52B-0B50F0E46275}"/>
              </a:ext>
            </a:extLst>
          </p:cNvPr>
          <p:cNvCxnSpPr>
            <a:cxnSpLocks/>
            <a:stCxn id="1080" idx="3"/>
            <a:endCxn id="1081" idx="1"/>
          </p:cNvCxnSpPr>
          <p:nvPr/>
        </p:nvCxnSpPr>
        <p:spPr>
          <a:xfrm>
            <a:off x="3274511" y="22939547"/>
            <a:ext cx="527455" cy="325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45A0D807-3BB6-7D45-FD5C-CAA13FB90673}"/>
              </a:ext>
            </a:extLst>
          </p:cNvPr>
          <p:cNvSpPr/>
          <p:nvPr/>
        </p:nvSpPr>
        <p:spPr>
          <a:xfrm>
            <a:off x="198120" y="23710005"/>
            <a:ext cx="5363688" cy="76091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of XG-Boost with RF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6" name="Straight Arrow Connector 1085">
            <a:extLst>
              <a:ext uri="{FF2B5EF4-FFF2-40B4-BE49-F238E27FC236}">
                <a16:creationId xmlns:a16="http://schemas.microsoft.com/office/drawing/2014/main" id="{46BE67CE-4190-5C1C-88C7-238B5FEE69AB}"/>
              </a:ext>
            </a:extLst>
          </p:cNvPr>
          <p:cNvCxnSpPr>
            <a:cxnSpLocks/>
            <a:stCxn id="1083" idx="1"/>
          </p:cNvCxnSpPr>
          <p:nvPr/>
        </p:nvCxnSpPr>
        <p:spPr>
          <a:xfrm flipH="1" flipV="1">
            <a:off x="5561808" y="24148132"/>
            <a:ext cx="421855" cy="186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Oval 1086">
            <a:extLst>
              <a:ext uri="{FF2B5EF4-FFF2-40B4-BE49-F238E27FC236}">
                <a16:creationId xmlns:a16="http://schemas.microsoft.com/office/drawing/2014/main" id="{EEBDBEE9-7858-C321-281F-A37B3CB1CBAD}"/>
              </a:ext>
            </a:extLst>
          </p:cNvPr>
          <p:cNvSpPr/>
          <p:nvPr/>
        </p:nvSpPr>
        <p:spPr>
          <a:xfrm>
            <a:off x="275245" y="22329236"/>
            <a:ext cx="1142075" cy="121679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219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8" name="Straight Arrow Connector 1087">
            <a:extLst>
              <a:ext uri="{FF2B5EF4-FFF2-40B4-BE49-F238E27FC236}">
                <a16:creationId xmlns:a16="http://schemas.microsoft.com/office/drawing/2014/main" id="{5FCC43A1-4F3C-E56B-6CF7-CB0D20609EAA}"/>
              </a:ext>
            </a:extLst>
          </p:cNvPr>
          <p:cNvCxnSpPr>
            <a:cxnSpLocks/>
          </p:cNvCxnSpPr>
          <p:nvPr/>
        </p:nvCxnSpPr>
        <p:spPr>
          <a:xfrm>
            <a:off x="1417320" y="23028215"/>
            <a:ext cx="378911" cy="347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9" name="Straight Arrow Connector 1088">
            <a:extLst>
              <a:ext uri="{FF2B5EF4-FFF2-40B4-BE49-F238E27FC236}">
                <a16:creationId xmlns:a16="http://schemas.microsoft.com/office/drawing/2014/main" id="{B3BB41ED-DF3D-889B-7A28-D5AA5E0DF99F}"/>
              </a:ext>
            </a:extLst>
          </p:cNvPr>
          <p:cNvCxnSpPr>
            <a:cxnSpLocks/>
          </p:cNvCxnSpPr>
          <p:nvPr/>
        </p:nvCxnSpPr>
        <p:spPr>
          <a:xfrm>
            <a:off x="5558774" y="22997661"/>
            <a:ext cx="547067" cy="81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Straight Arrow Connector 1089">
            <a:extLst>
              <a:ext uri="{FF2B5EF4-FFF2-40B4-BE49-F238E27FC236}">
                <a16:creationId xmlns:a16="http://schemas.microsoft.com/office/drawing/2014/main" id="{DAB4BF5B-C4B4-025A-B735-A03C9EF0EF36}"/>
              </a:ext>
            </a:extLst>
          </p:cNvPr>
          <p:cNvCxnSpPr>
            <a:cxnSpLocks/>
            <a:endCxn id="1083" idx="0"/>
          </p:cNvCxnSpPr>
          <p:nvPr/>
        </p:nvCxnSpPr>
        <p:spPr>
          <a:xfrm>
            <a:off x="6959714" y="23500338"/>
            <a:ext cx="1" cy="3603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A7FF164B-714E-3D19-D49D-ADB0BE676DD5}"/>
              </a:ext>
            </a:extLst>
          </p:cNvPr>
          <p:cNvSpPr/>
          <p:nvPr/>
        </p:nvSpPr>
        <p:spPr>
          <a:xfrm>
            <a:off x="10300151" y="22445240"/>
            <a:ext cx="1478280" cy="9886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n-IN" sz="219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D96C65DD-5047-21AD-619A-087C555E1497}"/>
              </a:ext>
            </a:extLst>
          </p:cNvPr>
          <p:cNvSpPr/>
          <p:nvPr/>
        </p:nvSpPr>
        <p:spPr>
          <a:xfrm>
            <a:off x="12305886" y="22308829"/>
            <a:ext cx="1759842" cy="13264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Splitting data into training and testing data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42F337FF-D825-539C-0D05-AAF15C3068F3}"/>
              </a:ext>
            </a:extLst>
          </p:cNvPr>
          <p:cNvSpPr/>
          <p:nvPr/>
        </p:nvSpPr>
        <p:spPr>
          <a:xfrm>
            <a:off x="14583713" y="22158476"/>
            <a:ext cx="1759842" cy="132597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training (XG-Boost and DT) 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5C1A33BB-4715-983B-6C8F-AB217735FE68}"/>
              </a:ext>
            </a:extLst>
          </p:cNvPr>
          <p:cNvSpPr/>
          <p:nvPr/>
        </p:nvSpPr>
        <p:spPr>
          <a:xfrm>
            <a:off x="14487583" y="23860683"/>
            <a:ext cx="1952103" cy="6122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validation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5" name="Straight Arrow Connector 1094">
            <a:extLst>
              <a:ext uri="{FF2B5EF4-FFF2-40B4-BE49-F238E27FC236}">
                <a16:creationId xmlns:a16="http://schemas.microsoft.com/office/drawing/2014/main" id="{83CE87CA-BD85-9DD3-5C7D-FF935056AF7A}"/>
              </a:ext>
            </a:extLst>
          </p:cNvPr>
          <p:cNvCxnSpPr>
            <a:cxnSpLocks/>
            <a:stCxn id="1091" idx="3"/>
            <a:endCxn id="1092" idx="1"/>
          </p:cNvCxnSpPr>
          <p:nvPr/>
        </p:nvCxnSpPr>
        <p:spPr>
          <a:xfrm>
            <a:off x="11778431" y="22939547"/>
            <a:ext cx="527455" cy="325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EAD512E8-9B37-11A2-560B-E23FB7CC0469}"/>
              </a:ext>
            </a:extLst>
          </p:cNvPr>
          <p:cNvSpPr/>
          <p:nvPr/>
        </p:nvSpPr>
        <p:spPr>
          <a:xfrm>
            <a:off x="8702040" y="23710005"/>
            <a:ext cx="5363688" cy="76091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of XG-Boost with KNN</a:t>
            </a:r>
            <a:endParaRPr lang="en-IN" sz="219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7" name="Straight Arrow Connector 1096">
            <a:extLst>
              <a:ext uri="{FF2B5EF4-FFF2-40B4-BE49-F238E27FC236}">
                <a16:creationId xmlns:a16="http://schemas.microsoft.com/office/drawing/2014/main" id="{A240C807-C3FC-68E7-8297-944049E9AB99}"/>
              </a:ext>
            </a:extLst>
          </p:cNvPr>
          <p:cNvCxnSpPr>
            <a:cxnSpLocks/>
            <a:stCxn id="1094" idx="1"/>
          </p:cNvCxnSpPr>
          <p:nvPr/>
        </p:nvCxnSpPr>
        <p:spPr>
          <a:xfrm flipH="1" flipV="1">
            <a:off x="14065728" y="24148132"/>
            <a:ext cx="421855" cy="186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8" name="Oval 1097">
            <a:extLst>
              <a:ext uri="{FF2B5EF4-FFF2-40B4-BE49-F238E27FC236}">
                <a16:creationId xmlns:a16="http://schemas.microsoft.com/office/drawing/2014/main" id="{F6D5B30A-C145-90AD-324A-A255E6236AFB}"/>
              </a:ext>
            </a:extLst>
          </p:cNvPr>
          <p:cNvSpPr/>
          <p:nvPr/>
        </p:nvSpPr>
        <p:spPr>
          <a:xfrm>
            <a:off x="8779165" y="22329236"/>
            <a:ext cx="1142075" cy="121679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IN" sz="219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9" name="Straight Arrow Connector 1098">
            <a:extLst>
              <a:ext uri="{FF2B5EF4-FFF2-40B4-BE49-F238E27FC236}">
                <a16:creationId xmlns:a16="http://schemas.microsoft.com/office/drawing/2014/main" id="{5984A43F-83E5-E87F-5A96-AE39F1D411DA}"/>
              </a:ext>
            </a:extLst>
          </p:cNvPr>
          <p:cNvCxnSpPr>
            <a:cxnSpLocks/>
          </p:cNvCxnSpPr>
          <p:nvPr/>
        </p:nvCxnSpPr>
        <p:spPr>
          <a:xfrm>
            <a:off x="9921240" y="23028215"/>
            <a:ext cx="378911" cy="347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0" name="Straight Arrow Connector 1099">
            <a:extLst>
              <a:ext uri="{FF2B5EF4-FFF2-40B4-BE49-F238E27FC236}">
                <a16:creationId xmlns:a16="http://schemas.microsoft.com/office/drawing/2014/main" id="{B7943A09-5297-93B0-4B4D-BABDC64D7BCF}"/>
              </a:ext>
            </a:extLst>
          </p:cNvPr>
          <p:cNvCxnSpPr>
            <a:cxnSpLocks/>
          </p:cNvCxnSpPr>
          <p:nvPr/>
        </p:nvCxnSpPr>
        <p:spPr>
          <a:xfrm>
            <a:off x="14062694" y="22997661"/>
            <a:ext cx="547067" cy="81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1" name="Straight Arrow Connector 1100">
            <a:extLst>
              <a:ext uri="{FF2B5EF4-FFF2-40B4-BE49-F238E27FC236}">
                <a16:creationId xmlns:a16="http://schemas.microsoft.com/office/drawing/2014/main" id="{2B1D7AC9-2210-3541-0809-A4C0CDAE55F9}"/>
              </a:ext>
            </a:extLst>
          </p:cNvPr>
          <p:cNvCxnSpPr>
            <a:cxnSpLocks/>
            <a:endCxn id="1094" idx="0"/>
          </p:cNvCxnSpPr>
          <p:nvPr/>
        </p:nvCxnSpPr>
        <p:spPr>
          <a:xfrm>
            <a:off x="15463634" y="23500338"/>
            <a:ext cx="1" cy="3603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03" name="Picture 1102">
            <a:extLst>
              <a:ext uri="{FF2B5EF4-FFF2-40B4-BE49-F238E27FC236}">
                <a16:creationId xmlns:a16="http://schemas.microsoft.com/office/drawing/2014/main" id="{9A58A6F5-7BA8-1C3A-74CB-16CE901D5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18" y="10032969"/>
            <a:ext cx="2816501" cy="1874910"/>
          </a:xfrm>
          <a:prstGeom prst="rect">
            <a:avLst/>
          </a:prstGeom>
        </p:spPr>
      </p:pic>
      <p:pic>
        <p:nvPicPr>
          <p:cNvPr id="1105" name="Picture 1104">
            <a:extLst>
              <a:ext uri="{FF2B5EF4-FFF2-40B4-BE49-F238E27FC236}">
                <a16:creationId xmlns:a16="http://schemas.microsoft.com/office/drawing/2014/main" id="{C3A118CE-29DA-260F-E8FD-F9F76B347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595" y="10077742"/>
            <a:ext cx="3005224" cy="1714816"/>
          </a:xfrm>
          <a:prstGeom prst="rect">
            <a:avLst/>
          </a:prstGeom>
        </p:spPr>
      </p:pic>
      <p:pic>
        <p:nvPicPr>
          <p:cNvPr id="1108" name="Picture 1107">
            <a:extLst>
              <a:ext uri="{FF2B5EF4-FFF2-40B4-BE49-F238E27FC236}">
                <a16:creationId xmlns:a16="http://schemas.microsoft.com/office/drawing/2014/main" id="{73B363B6-AE4D-6BC7-1C94-43A90484C3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856" y="25304496"/>
            <a:ext cx="3054325" cy="1700265"/>
          </a:xfrm>
          <a:prstGeom prst="rect">
            <a:avLst/>
          </a:prstGeom>
        </p:spPr>
      </p:pic>
      <p:pic>
        <p:nvPicPr>
          <p:cNvPr id="1111" name="Picture 1110">
            <a:extLst>
              <a:ext uri="{FF2B5EF4-FFF2-40B4-BE49-F238E27FC236}">
                <a16:creationId xmlns:a16="http://schemas.microsoft.com/office/drawing/2014/main" id="{7A5070CD-E768-7F50-1185-04A3560EB2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5841" y="25343533"/>
            <a:ext cx="2948016" cy="1719717"/>
          </a:xfrm>
          <a:prstGeom prst="rect">
            <a:avLst/>
          </a:prstGeom>
        </p:spPr>
      </p:pic>
      <p:sp>
        <p:nvSpPr>
          <p:cNvPr id="1113" name="TextBox 1112">
            <a:extLst>
              <a:ext uri="{FF2B5EF4-FFF2-40B4-BE49-F238E27FC236}">
                <a16:creationId xmlns:a16="http://schemas.microsoft.com/office/drawing/2014/main" id="{42A98C34-689E-E734-A5B8-131420535529}"/>
              </a:ext>
            </a:extLst>
          </p:cNvPr>
          <p:cNvSpPr txBox="1"/>
          <p:nvPr/>
        </p:nvSpPr>
        <p:spPr>
          <a:xfrm>
            <a:off x="203856" y="12872510"/>
            <a:ext cx="79147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0"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this study, the XG-Boost (extreme gradient booster) algorithm performs noticeably better than the Decision Tree method in terms of more accurate inflation rate prediction. </a:t>
            </a:r>
          </a:p>
          <a:p>
            <a:pPr marL="285750" indent="-285750" algn="just" rtl="0"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Tree algorithm's precision was just 77.25%, but XG-Boost's was 90.11% &amp; p=0.45. The findings show that XG-Boost's capacity to successfully minimize bias and variance leads in a prediction model that is more stable</a:t>
            </a:r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29DE290C-2CED-57A1-F04D-9DA8731AB6F1}"/>
              </a:ext>
            </a:extLst>
          </p:cNvPr>
          <p:cNvSpPr txBox="1"/>
          <p:nvPr/>
        </p:nvSpPr>
        <p:spPr>
          <a:xfrm>
            <a:off x="8635841" y="12890935"/>
            <a:ext cx="76642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0"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this study, the XG-Boost (extreme gradient booster) algorithm performs better than the Gradient Boosting approach in terms of more accurate inflation rate predictions.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of the Gradient Boosting technique was just 78.08%, whereas XG-Boost's precision was 90.11%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p=0.45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 findings show that XG-Boost offers a more accurate</a:t>
            </a:r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B104AA85-1CAC-701B-70E5-0AABE98D63EB}"/>
              </a:ext>
            </a:extLst>
          </p:cNvPr>
          <p:cNvSpPr txBox="1"/>
          <p:nvPr/>
        </p:nvSpPr>
        <p:spPr>
          <a:xfrm>
            <a:off x="184732" y="28222983"/>
            <a:ext cx="7905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study's findings, XG-Boost predicts inflation rates better than the Random Forest algorithm. Random Forest's accuracy was 78.08%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whereas XG-Boost's precision was 90.11%. These findings suggest that XG-Boost provides a more accurate and dependable way to predict inflation trends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p=0.45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we conclude that XG-Boost outperforms random forest algorithm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E80AE4F-CF20-2C4D-5EAD-22E2C76B274C}"/>
              </a:ext>
            </a:extLst>
          </p:cNvPr>
          <p:cNvSpPr txBox="1"/>
          <p:nvPr/>
        </p:nvSpPr>
        <p:spPr>
          <a:xfrm>
            <a:off x="8635840" y="28215002"/>
            <a:ext cx="78031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0"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study's findings, </a:t>
            </a:r>
            <a:r>
              <a:rPr lang="en-US" sz="1800" b="1" i="0" u="none" strike="noStrike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predicts inflation rates more accurately than the KNN algorithm. KNN trailed behind with an accuracy of 70.00%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whereas </a:t>
            </a:r>
            <a:r>
              <a:rPr lang="en-US" sz="1800" b="1" i="0" u="none" strike="noStrike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obtained a greater accuracy of 90.11%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p=0.45</a:t>
            </a:r>
            <a:r>
              <a:rPr lang="en-US" sz="18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These results demonstrate that the </a:t>
            </a:r>
            <a:r>
              <a:rPr lang="en-US" sz="1800" b="1" i="0" u="none" strike="noStrike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more precise and trustworthy forecasting method.</a:t>
            </a:r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8FD74646-3803-7AD6-8DA3-CF5A34B31863}"/>
              </a:ext>
            </a:extLst>
          </p:cNvPr>
          <p:cNvSpPr txBox="1"/>
          <p:nvPr/>
        </p:nvSpPr>
        <p:spPr>
          <a:xfrm>
            <a:off x="8599912" y="30624737"/>
            <a:ext cx="78390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Beer, Christian, Robert Ferstl, and Bernhard Graf. 2025. “Improving Disaggregated Short-Term Food Inflation Forecasts with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Webscraped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Data.” 262. Working Paper. </a:t>
            </a:r>
            <a:endParaRPr lang="en-US" b="1" u="sng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Vilenko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Maya. 2025. “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BiHRNN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Bi-Directional Hierarchical Recurrent Neural Network for Inflation Forecasting.” http://arxiv.org/abs/2503.01893.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“Global Inflation Forecasting and Uncertainty Assessment: Comparing ARIMA with Advanced Machine Learning.” 2025. Journal of Radiation Research and Applied Sciences 18 (2): 101402.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5826D66A-2B42-190B-357F-904205F02332}"/>
              </a:ext>
            </a:extLst>
          </p:cNvPr>
          <p:cNvSpPr txBox="1"/>
          <p:nvPr/>
        </p:nvSpPr>
        <p:spPr>
          <a:xfrm>
            <a:off x="224659" y="30632400"/>
            <a:ext cx="78939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Beer, Christian, Robert Ferstl, and Bernhard Graf. 2025. “Improving Disaggregated Short-Term Food Inflation Forecasts with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Webscraped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Data.” 262. Working Paper. https://hdl.handle.net/10419/312869.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“Global Inflation Forecasting and Uncertainty Assessment: Comparing ARIMA with Advanced Machine Learning.” 2025. Journal of Radiation Research and Applied Sciences 18 (2): 101402.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Vilenko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Maya. 2025. “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BiHRNN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Bi-Directional Hierarchical Recurrent Neural Network for Inflation Forecasting.” http://arxiv.org/abs/2503.01893.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3487DAFA-1D20-C6B5-F64B-14D912199342}"/>
              </a:ext>
            </a:extLst>
          </p:cNvPr>
          <p:cNvSpPr txBox="1"/>
          <p:nvPr/>
        </p:nvSpPr>
        <p:spPr>
          <a:xfrm>
            <a:off x="8511003" y="15410257"/>
            <a:ext cx="78227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Sun, Lu,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Zhixiang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Yin, and Lin Lu. 2025. “ISLRWR: A Network Diffusion Algorithm for Drug-Target Interactions Prediction.”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20 (1): e0302281.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Vilenko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Maya. 2025. “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BiHRNN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Bi-Directional Hierarchical Recurrent Neural Network for Inflation Forecasting.” http://arxiv.org/abs/2503.01893.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Somakumar</a:t>
            </a: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Shwetha, Fathima </a:t>
            </a:r>
            <a:r>
              <a:rPr lang="en-IN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Thashreefa</a:t>
            </a: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Basheer, </a:t>
            </a:r>
            <a:r>
              <a:rPr lang="en-IN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Vijayanarayana</a:t>
            </a: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K, Vani Lakshmi R, </a:t>
            </a:r>
            <a:r>
              <a:rPr lang="en-IN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Shyamasunder</a:t>
            </a: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N. Bhat, Gabriel Sunil Rodrigues, Girish Menon R, </a:t>
            </a:r>
            <a:r>
              <a:rPr lang="en-IN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Elstin</a:t>
            </a: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Anbu Raj S, and Rajesh V. 2025.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A8712960-2EC3-DFBD-CB28-FF79C3DB53D4}"/>
              </a:ext>
            </a:extLst>
          </p:cNvPr>
          <p:cNvSpPr txBox="1"/>
          <p:nvPr/>
        </p:nvSpPr>
        <p:spPr>
          <a:xfrm>
            <a:off x="222160" y="15418206"/>
            <a:ext cx="80074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Beer, Christian, Robert Ferstl, and Bernhard Graf. 2025. “Improving Disaggregated Short-Term Food Inflation Forecasts with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Webscraped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Data.” 262. Working Paper.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Vilenko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Maya. 2025. “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BiHRNN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Bi-Directional Hierarchical Recurrent Neural Network for Inflation Forecasting.” http://arxiv.org/abs/2503.01893.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Naijing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Yuqing Qi, and Jie Xia. 2024. “China’s Inflation Forecasting in a Data-Rich Environment: Based on Machine Learning Algorithms.” Applied Economics, March. https://doi.org/10.1080/00036846.2024.2322572.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C6485D-8B4B-30DF-6830-D5465648CF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4819" y="3815911"/>
            <a:ext cx="2178395" cy="18050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6C6000-FC53-9A20-B43D-B7762B4B2A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1637" y="19486707"/>
            <a:ext cx="1763004" cy="16209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04DF30-50B5-4502-353C-7B2883F112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98698" y="18876227"/>
            <a:ext cx="2118823" cy="186979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0CA5812-8364-923A-49AF-CAA0E4B917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5187" y="3886668"/>
            <a:ext cx="2171653" cy="19382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94B2D1-4252-9428-D953-D83A0B42CDE8}"/>
              </a:ext>
            </a:extLst>
          </p:cNvPr>
          <p:cNvSpPr txBox="1"/>
          <p:nvPr/>
        </p:nvSpPr>
        <p:spPr>
          <a:xfrm>
            <a:off x="5911739" y="5844205"/>
            <a:ext cx="2691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Fig1. Inflation Decline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E770CE-D55D-2B6C-A616-AC04A10321D4}"/>
              </a:ext>
            </a:extLst>
          </p:cNvPr>
          <p:cNvSpPr txBox="1"/>
          <p:nvPr/>
        </p:nvSpPr>
        <p:spPr>
          <a:xfrm>
            <a:off x="14017100" y="5715649"/>
            <a:ext cx="2336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Fig1. Rising Prices &amp; Decreasing stability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3ABA9-B80B-FCE5-7668-621916386FEF}"/>
              </a:ext>
            </a:extLst>
          </p:cNvPr>
          <p:cNvSpPr txBox="1"/>
          <p:nvPr/>
        </p:nvSpPr>
        <p:spPr>
          <a:xfrm>
            <a:off x="5989059" y="21048443"/>
            <a:ext cx="2456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Fig1. Market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Tremors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A3208-0365-6DC8-AFFB-113257B13C3D}"/>
              </a:ext>
            </a:extLst>
          </p:cNvPr>
          <p:cNvSpPr txBox="1"/>
          <p:nvPr/>
        </p:nvSpPr>
        <p:spPr>
          <a:xfrm>
            <a:off x="14317884" y="20707104"/>
            <a:ext cx="21854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Fig1. Dollar`s Decent: shrinking purchasing power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0377F6-9A95-B99D-3621-3C94CF2BE4ED}"/>
              </a:ext>
            </a:extLst>
          </p:cNvPr>
          <p:cNvSpPr txBox="1"/>
          <p:nvPr/>
        </p:nvSpPr>
        <p:spPr>
          <a:xfrm>
            <a:off x="3633903" y="24689301"/>
            <a:ext cx="4484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 . Standard deviation and mean value of  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  RF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1D12EC-D0F8-DD84-3F8F-C401A22D2A01}"/>
              </a:ext>
            </a:extLst>
          </p:cNvPr>
          <p:cNvSpPr txBox="1"/>
          <p:nvPr/>
        </p:nvSpPr>
        <p:spPr>
          <a:xfrm>
            <a:off x="381000" y="27138346"/>
            <a:ext cx="2233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 2 . 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RF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03D73C-89CA-3DD6-4B81-5B52E28A9CCD}"/>
              </a:ext>
            </a:extLst>
          </p:cNvPr>
          <p:cNvSpPr txBox="1"/>
          <p:nvPr/>
        </p:nvSpPr>
        <p:spPr>
          <a:xfrm>
            <a:off x="11545929" y="24777307"/>
            <a:ext cx="5022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 . Standard deviation and mean value of  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  KNN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132322-F1A4-BB89-53B7-CE3A9CBA644A}"/>
              </a:ext>
            </a:extLst>
          </p:cNvPr>
          <p:cNvSpPr txBox="1"/>
          <p:nvPr/>
        </p:nvSpPr>
        <p:spPr>
          <a:xfrm>
            <a:off x="8949511" y="27216570"/>
            <a:ext cx="2457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 2 . 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KNN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73673D-3240-F54B-27E7-D465DCE20695}"/>
              </a:ext>
            </a:extLst>
          </p:cNvPr>
          <p:cNvSpPr txBox="1"/>
          <p:nvPr/>
        </p:nvSpPr>
        <p:spPr>
          <a:xfrm>
            <a:off x="3457391" y="9488082"/>
            <a:ext cx="4484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 . Standard deviation and mean value of  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  DT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F32E34-FAB1-4FD7-E4A1-722027EAD4E3}"/>
              </a:ext>
            </a:extLst>
          </p:cNvPr>
          <p:cNvSpPr txBox="1"/>
          <p:nvPr/>
        </p:nvSpPr>
        <p:spPr>
          <a:xfrm>
            <a:off x="562411" y="11934714"/>
            <a:ext cx="2155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 2 . 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DT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B45304-8ED6-A4FC-1652-855C6BBF30F5}"/>
              </a:ext>
            </a:extLst>
          </p:cNvPr>
          <p:cNvSpPr txBox="1"/>
          <p:nvPr/>
        </p:nvSpPr>
        <p:spPr>
          <a:xfrm>
            <a:off x="11848974" y="9542690"/>
            <a:ext cx="4484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 . Standard deviation and mean value of  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  GB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CEC0FE-2413-2895-607F-F47F8F04E46F}"/>
              </a:ext>
            </a:extLst>
          </p:cNvPr>
          <p:cNvSpPr txBox="1"/>
          <p:nvPr/>
        </p:nvSpPr>
        <p:spPr>
          <a:xfrm>
            <a:off x="9014246" y="11883881"/>
            <a:ext cx="2214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 2 . 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GB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08B0D618-177D-F075-B493-4BDC10BD1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118371"/>
              </p:ext>
            </p:extLst>
          </p:nvPr>
        </p:nvGraphicFramePr>
        <p:xfrm>
          <a:off x="3453194" y="10045340"/>
          <a:ext cx="4569321" cy="187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9086">
                  <a:extLst>
                    <a:ext uri="{9D8B030D-6E8A-4147-A177-3AD203B41FA5}">
                      <a16:colId xmlns:a16="http://schemas.microsoft.com/office/drawing/2014/main" val="259767622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02386516"/>
                    </a:ext>
                  </a:extLst>
                </a:gridCol>
                <a:gridCol w="303008">
                  <a:extLst>
                    <a:ext uri="{9D8B030D-6E8A-4147-A177-3AD203B41FA5}">
                      <a16:colId xmlns:a16="http://schemas.microsoft.com/office/drawing/2014/main" val="4275539855"/>
                    </a:ext>
                  </a:extLst>
                </a:gridCol>
                <a:gridCol w="822557">
                  <a:extLst>
                    <a:ext uri="{9D8B030D-6E8A-4147-A177-3AD203B41FA5}">
                      <a16:colId xmlns:a16="http://schemas.microsoft.com/office/drawing/2014/main" val="3820385476"/>
                    </a:ext>
                  </a:extLst>
                </a:gridCol>
                <a:gridCol w="840135">
                  <a:extLst>
                    <a:ext uri="{9D8B030D-6E8A-4147-A177-3AD203B41FA5}">
                      <a16:colId xmlns:a16="http://schemas.microsoft.com/office/drawing/2014/main" val="1611037406"/>
                    </a:ext>
                  </a:extLst>
                </a:gridCol>
                <a:gridCol w="840135">
                  <a:extLst>
                    <a:ext uri="{9D8B030D-6E8A-4147-A177-3AD203B41FA5}">
                      <a16:colId xmlns:a16="http://schemas.microsoft.com/office/drawing/2014/main" val="402102495"/>
                    </a:ext>
                  </a:extLst>
                </a:gridCol>
              </a:tblGrid>
              <a:tr h="598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Deviation</a:t>
                      </a:r>
                      <a:endParaRPr lang="en-IN" sz="14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 Mean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330193"/>
                  </a:ext>
                </a:extLst>
              </a:tr>
              <a:tr h="593089"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XG-Boost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90.115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0.084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0.02659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831727"/>
                  </a:ext>
                </a:extLst>
              </a:tr>
              <a:tr h="6765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77.257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0.0048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0.0153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12879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9667C0E-6B85-43C8-6819-9B38D1AE2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149971"/>
              </p:ext>
            </p:extLst>
          </p:nvPr>
        </p:nvGraphicFramePr>
        <p:xfrm>
          <a:off x="11823629" y="10163015"/>
          <a:ext cx="4569321" cy="187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9086">
                  <a:extLst>
                    <a:ext uri="{9D8B030D-6E8A-4147-A177-3AD203B41FA5}">
                      <a16:colId xmlns:a16="http://schemas.microsoft.com/office/drawing/2014/main" val="259767622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02386516"/>
                    </a:ext>
                  </a:extLst>
                </a:gridCol>
                <a:gridCol w="303008">
                  <a:extLst>
                    <a:ext uri="{9D8B030D-6E8A-4147-A177-3AD203B41FA5}">
                      <a16:colId xmlns:a16="http://schemas.microsoft.com/office/drawing/2014/main" val="4275539855"/>
                    </a:ext>
                  </a:extLst>
                </a:gridCol>
                <a:gridCol w="822557">
                  <a:extLst>
                    <a:ext uri="{9D8B030D-6E8A-4147-A177-3AD203B41FA5}">
                      <a16:colId xmlns:a16="http://schemas.microsoft.com/office/drawing/2014/main" val="3820385476"/>
                    </a:ext>
                  </a:extLst>
                </a:gridCol>
                <a:gridCol w="840135">
                  <a:extLst>
                    <a:ext uri="{9D8B030D-6E8A-4147-A177-3AD203B41FA5}">
                      <a16:colId xmlns:a16="http://schemas.microsoft.com/office/drawing/2014/main" val="1611037406"/>
                    </a:ext>
                  </a:extLst>
                </a:gridCol>
                <a:gridCol w="840135">
                  <a:extLst>
                    <a:ext uri="{9D8B030D-6E8A-4147-A177-3AD203B41FA5}">
                      <a16:colId xmlns:a16="http://schemas.microsoft.com/office/drawing/2014/main" val="402102495"/>
                    </a:ext>
                  </a:extLst>
                </a:gridCol>
              </a:tblGrid>
              <a:tr h="598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Deviation</a:t>
                      </a:r>
                      <a:endParaRPr lang="en-IN" sz="14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 Mean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330193"/>
                  </a:ext>
                </a:extLst>
              </a:tr>
              <a:tr h="593089"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XG-Boost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90.115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0.084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0.02659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831727"/>
                  </a:ext>
                </a:extLst>
              </a:tr>
              <a:tr h="6765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GB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78.0850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0.0052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0.0167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128793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BF902564-297D-F588-44F2-D2AE8A663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992479"/>
              </p:ext>
            </p:extLst>
          </p:nvPr>
        </p:nvGraphicFramePr>
        <p:xfrm>
          <a:off x="3605594" y="25349010"/>
          <a:ext cx="4569321" cy="187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9086">
                  <a:extLst>
                    <a:ext uri="{9D8B030D-6E8A-4147-A177-3AD203B41FA5}">
                      <a16:colId xmlns:a16="http://schemas.microsoft.com/office/drawing/2014/main" val="259767622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02386516"/>
                    </a:ext>
                  </a:extLst>
                </a:gridCol>
                <a:gridCol w="303008">
                  <a:extLst>
                    <a:ext uri="{9D8B030D-6E8A-4147-A177-3AD203B41FA5}">
                      <a16:colId xmlns:a16="http://schemas.microsoft.com/office/drawing/2014/main" val="4275539855"/>
                    </a:ext>
                  </a:extLst>
                </a:gridCol>
                <a:gridCol w="822557">
                  <a:extLst>
                    <a:ext uri="{9D8B030D-6E8A-4147-A177-3AD203B41FA5}">
                      <a16:colId xmlns:a16="http://schemas.microsoft.com/office/drawing/2014/main" val="3820385476"/>
                    </a:ext>
                  </a:extLst>
                </a:gridCol>
                <a:gridCol w="840135">
                  <a:extLst>
                    <a:ext uri="{9D8B030D-6E8A-4147-A177-3AD203B41FA5}">
                      <a16:colId xmlns:a16="http://schemas.microsoft.com/office/drawing/2014/main" val="1611037406"/>
                    </a:ext>
                  </a:extLst>
                </a:gridCol>
                <a:gridCol w="840135">
                  <a:extLst>
                    <a:ext uri="{9D8B030D-6E8A-4147-A177-3AD203B41FA5}">
                      <a16:colId xmlns:a16="http://schemas.microsoft.com/office/drawing/2014/main" val="402102495"/>
                    </a:ext>
                  </a:extLst>
                </a:gridCol>
              </a:tblGrid>
              <a:tr h="598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Deviation</a:t>
                      </a:r>
                      <a:endParaRPr lang="en-IN" sz="14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 Mean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330193"/>
                  </a:ext>
                </a:extLst>
              </a:tr>
              <a:tr h="593089"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XG-Boost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90.115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0.084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0.02659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831727"/>
                  </a:ext>
                </a:extLst>
              </a:tr>
              <a:tr h="6765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73.240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0.00527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0.0167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128793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DD06808E-BA53-D2F0-6D60-729623321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236063"/>
              </p:ext>
            </p:extLst>
          </p:nvPr>
        </p:nvGraphicFramePr>
        <p:xfrm>
          <a:off x="11733859" y="25374085"/>
          <a:ext cx="4569321" cy="187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9086">
                  <a:extLst>
                    <a:ext uri="{9D8B030D-6E8A-4147-A177-3AD203B41FA5}">
                      <a16:colId xmlns:a16="http://schemas.microsoft.com/office/drawing/2014/main" val="259767622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02386516"/>
                    </a:ext>
                  </a:extLst>
                </a:gridCol>
                <a:gridCol w="303008">
                  <a:extLst>
                    <a:ext uri="{9D8B030D-6E8A-4147-A177-3AD203B41FA5}">
                      <a16:colId xmlns:a16="http://schemas.microsoft.com/office/drawing/2014/main" val="4275539855"/>
                    </a:ext>
                  </a:extLst>
                </a:gridCol>
                <a:gridCol w="822557">
                  <a:extLst>
                    <a:ext uri="{9D8B030D-6E8A-4147-A177-3AD203B41FA5}">
                      <a16:colId xmlns:a16="http://schemas.microsoft.com/office/drawing/2014/main" val="3820385476"/>
                    </a:ext>
                  </a:extLst>
                </a:gridCol>
                <a:gridCol w="840135">
                  <a:extLst>
                    <a:ext uri="{9D8B030D-6E8A-4147-A177-3AD203B41FA5}">
                      <a16:colId xmlns:a16="http://schemas.microsoft.com/office/drawing/2014/main" val="1611037406"/>
                    </a:ext>
                  </a:extLst>
                </a:gridCol>
                <a:gridCol w="840135">
                  <a:extLst>
                    <a:ext uri="{9D8B030D-6E8A-4147-A177-3AD203B41FA5}">
                      <a16:colId xmlns:a16="http://schemas.microsoft.com/office/drawing/2014/main" val="402102495"/>
                    </a:ext>
                  </a:extLst>
                </a:gridCol>
              </a:tblGrid>
              <a:tr h="598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Deviation</a:t>
                      </a:r>
                      <a:endParaRPr lang="en-IN" sz="14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 Mean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330193"/>
                  </a:ext>
                </a:extLst>
              </a:tr>
              <a:tr h="593089">
                <a:tc rowSpan="2"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XG-Boost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90.115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0.084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0.02659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831727"/>
                  </a:ext>
                </a:extLst>
              </a:tr>
              <a:tr h="6765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70.02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ts val="16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IN" sz="14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128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81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669</TotalTime>
  <Words>1275</Words>
  <Application>Microsoft Office PowerPoint</Application>
  <PresentationFormat>Custom</PresentationFormat>
  <Paragraphs>167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sai chandu</cp:lastModifiedBy>
  <cp:revision>44</cp:revision>
  <dcterms:created xsi:type="dcterms:W3CDTF">2023-04-19T08:35:46Z</dcterms:created>
  <dcterms:modified xsi:type="dcterms:W3CDTF">2025-06-05T06:30:07Z</dcterms:modified>
</cp:coreProperties>
</file>